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02124"/>
                </a:solidFill>
                <a:latin typeface="Arial"/>
              </a:defRPr>
            </a:pPr>
            <a:r>
              <a:rPr lang="es-ES" sz="1300" b="0" i="0" u="none" strike="noStrike">
                <a:solidFill>
                  <a:srgbClr val="202124"/>
                </a:solidFill>
                <a:latin typeface="Arial"/>
              </a:rPr>
              <a:t>Variación interanual de envíos, Q1 2026</a:t>
            </a:r>
          </a:p>
        </c:rich>
      </c:tx>
      <c:layout>
        <c:manualLayout>
          <c:xMode val="edge"/>
          <c:yMode val="edge"/>
          <c:x val="0.15164077272598991"/>
          <c:y val="2.7777777777777776E-2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Variación interanual Q1 2026 (%)</c:v>
                </c:pt>
              </c:strCache>
            </c:strRef>
          </c:tx>
          <c:spPr>
            <a:solidFill>
              <a:srgbClr val="5F636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F63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029-4403-AE69-BCD03ACE42B0}"/>
              </c:ext>
            </c:extLst>
          </c:dPt>
          <c:dPt>
            <c:idx val="1"/>
            <c:invertIfNegative val="0"/>
            <c:bubble3D val="0"/>
            <c:spPr>
              <a:solidFill>
                <a:srgbClr val="5F63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029-4403-AE69-BCD03ACE42B0}"/>
              </c:ext>
            </c:extLst>
          </c:dPt>
          <c:dPt>
            <c:idx val="2"/>
            <c:invertIfNegative val="0"/>
            <c:bubble3D val="0"/>
            <c:spPr>
              <a:solidFill>
                <a:srgbClr val="EA43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029-4403-AE69-BCD03ACE42B0}"/>
              </c:ext>
            </c:extLst>
          </c:dPt>
          <c:dPt>
            <c:idx val="3"/>
            <c:invertIfNegative val="0"/>
            <c:bubble3D val="0"/>
            <c:spPr>
              <a:solidFill>
                <a:srgbClr val="34A85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029-4403-AE69-BCD03ACE42B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02124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Mercado global</c:v>
                </c:pt>
                <c:pt idx="1">
                  <c:v>Samsung</c:v>
                </c:pt>
                <c:pt idx="2">
                  <c:v>Xiaomi</c:v>
                </c:pt>
                <c:pt idx="3">
                  <c:v>Google Pixel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-6</c:v>
                </c:pt>
                <c:pt idx="1">
                  <c:v>-6</c:v>
                </c:pt>
                <c:pt idx="2">
                  <c:v>-19</c:v>
                </c:pt>
                <c:pt idx="3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029-4403-AE69-BCD03ACE42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3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3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419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94360" y="548640"/>
            <a:ext cx="201168" cy="20116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914400" y="548640"/>
            <a:ext cx="201168" cy="201168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234440" y="548640"/>
            <a:ext cx="201168" cy="201168"/>
          </a:xfrm>
          <a:prstGeom prst="ellipse">
            <a:avLst/>
          </a:prstGeom>
          <a:solidFill>
            <a:srgbClr val="FBBC0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554480" y="548640"/>
            <a:ext cx="201168" cy="201168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98319" y="117500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MÓVIL · TAREA 2 · RADIOGRAFÍA DE DISPOSITIVO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345" y="1540764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Pixel 10 Pro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479367" y="3174076"/>
            <a:ext cx="3108960" cy="0"/>
          </a:xfrm>
          <a:prstGeom prst="line">
            <a:avLst/>
          </a:prstGeom>
          <a:noFill/>
          <a:ln w="12700">
            <a:solidFill>
              <a:srgbClr val="45474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65345" y="4809398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Ingeniería, UNAM  ·  Grupo 03  ·  Semestre 2027-1
Profesor: Ing. Marduk Pérez de Lara Domínguez
De La Merced Soriano, Uriel Benjamín  ·  Hernández Gutiérrez, Carlos Mario</a:t>
            </a:r>
            <a:endParaRPr lang="en-US" sz="1600" dirty="0"/>
          </a:p>
        </p:txBody>
      </p:sp>
      <p:pic>
        <p:nvPicPr>
          <p:cNvPr id="14" name="Imagen 13" descr="Google Pixel 10 Pro 128GB Obsidiana">
            <a:extLst>
              <a:ext uri="{FF2B5EF4-FFF2-40B4-BE49-F238E27FC236}">
                <a16:creationId xmlns:a16="http://schemas.microsoft.com/office/drawing/2014/main" id="{B5DAD189-803F-E5FA-2516-46A727A758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314" r="25555"/>
          <a:stretch>
            <a:fillRect/>
          </a:stretch>
        </p:blipFill>
        <p:spPr>
          <a:xfrm rot="20943223">
            <a:off x="8142767" y="514350"/>
            <a:ext cx="3038856" cy="5829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FICHA TÉCNICA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y características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146304" cy="146304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1704320" y="502920"/>
            <a:ext cx="146304" cy="146304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1932920" y="502920"/>
            <a:ext cx="146304" cy="146304"/>
          </a:xfrm>
          <a:prstGeom prst="ellipse">
            <a:avLst/>
          </a:prstGeom>
          <a:solidFill>
            <a:srgbClr val="FBBC0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12161520" y="502920"/>
            <a:ext cx="146304" cy="146304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F1F3F4"/>
          </a:solidFill>
          <a:ln/>
          <a:effectLst>
            <a:outerShdw blurRad="76200" dist="25400" dir="5400000" algn="bl" rotWithShape="0">
              <a:srgbClr val="80808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777240" y="1856232"/>
            <a:ext cx="640080" cy="64008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0" name="Image 0" descr="/home/claude/tarea2/icon_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009851"/>
            <a:ext cx="332842" cy="33284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1828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554480" y="2103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G5 · TSMC 3 nm (N3P)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4233672" y="160020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F1F3F4"/>
          </a:solidFill>
          <a:ln/>
          <a:effectLst>
            <a:outerShdw blurRad="76200" dist="25400" dir="5400000" algn="bl" rotWithShape="0">
              <a:srgbClr val="80808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4462272" y="1856232"/>
            <a:ext cx="640080" cy="64008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5" name="Image 1" descr="/home/claude/tarea2/icon_smart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5891" y="2009851"/>
            <a:ext cx="332842" cy="33284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39512" y="1828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239512" y="2103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6.3" OLED LTPO · 120 Hz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7918704" y="160020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F1F3F4"/>
          </a:solidFill>
          <a:ln/>
          <a:effectLst>
            <a:outerShdw blurRad="76200" dist="25400" dir="5400000" algn="bl" rotWithShape="0">
              <a:srgbClr val="80808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5"/>
          <p:cNvSpPr/>
          <p:nvPr/>
        </p:nvSpPr>
        <p:spPr>
          <a:xfrm>
            <a:off x="8147304" y="1856232"/>
            <a:ext cx="640080" cy="640080"/>
          </a:xfrm>
          <a:prstGeom prst="ellipse">
            <a:avLst/>
          </a:prstGeom>
          <a:solidFill>
            <a:srgbClr val="FBBC0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0" name="Image 2" descr="/home/claude/tarea2/icon_batte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0923" y="2009851"/>
            <a:ext cx="332842" cy="33284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924544" y="1828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BATERÍA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924544" y="2103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4,870 mAh · +24 h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548640" y="402336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F1F3F4"/>
          </a:solidFill>
          <a:ln/>
          <a:effectLst>
            <a:outerShdw blurRad="76200" dist="25400" dir="5400000" algn="bl" rotWithShape="0">
              <a:srgbClr val="80808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19"/>
          <p:cNvSpPr/>
          <p:nvPr/>
        </p:nvSpPr>
        <p:spPr>
          <a:xfrm>
            <a:off x="777240" y="4279392"/>
            <a:ext cx="640080" cy="64008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5" name="Image 3" descr="/home/claude/tarea2/icon_came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859" y="4433011"/>
            <a:ext cx="332842" cy="33284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54480" y="42519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554480" y="45262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MP + 48 MP + 48 MP (5x)</a:t>
            </a:r>
            <a:endParaRPr lang="en-US" sz="1450" dirty="0"/>
          </a:p>
        </p:txBody>
      </p:sp>
      <p:sp>
        <p:nvSpPr>
          <p:cNvPr id="28" name="Shape 22"/>
          <p:cNvSpPr/>
          <p:nvPr/>
        </p:nvSpPr>
        <p:spPr>
          <a:xfrm>
            <a:off x="4233672" y="402336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F1F3F4"/>
          </a:solidFill>
          <a:ln/>
          <a:effectLst>
            <a:outerShdw blurRad="76200" dist="25400" dir="5400000" algn="bl" rotWithShape="0">
              <a:srgbClr val="80808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3"/>
          <p:cNvSpPr/>
          <p:nvPr/>
        </p:nvSpPr>
        <p:spPr>
          <a:xfrm>
            <a:off x="4462272" y="4279392"/>
            <a:ext cx="640080" cy="64008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0" name="Image 4" descr="/home/claude/tarea2/icon_hd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5891" y="4433011"/>
            <a:ext cx="332842" cy="33284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39512" y="42519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239512" y="45262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GB RAM · hasta 1 TB</a:t>
            </a:r>
            <a:endParaRPr lang="en-US" sz="1450" dirty="0"/>
          </a:p>
        </p:txBody>
      </p:sp>
      <p:sp>
        <p:nvSpPr>
          <p:cNvPr id="33" name="Shape 26"/>
          <p:cNvSpPr/>
          <p:nvPr/>
        </p:nvSpPr>
        <p:spPr>
          <a:xfrm>
            <a:off x="7918704" y="402336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F1F3F4"/>
          </a:solidFill>
          <a:ln/>
          <a:effectLst>
            <a:outerShdw blurRad="76200" dist="25400" dir="5400000" algn="bl" rotWithShape="0">
              <a:srgbClr val="80808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4" name="Shape 27"/>
          <p:cNvSpPr/>
          <p:nvPr/>
        </p:nvSpPr>
        <p:spPr>
          <a:xfrm>
            <a:off x="8147304" y="4279392"/>
            <a:ext cx="640080" cy="64008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5" name="Image 5" descr="/home/claude/tarea2/icon_ta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0923" y="4433011"/>
            <a:ext cx="332842" cy="33284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924544" y="42519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(MÉXICO)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8924544" y="45262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$25,999 MXN</a:t>
            </a:r>
            <a:endParaRPr lang="en-US" sz="1450" dirty="0"/>
          </a:p>
        </p:txBody>
      </p:sp>
      <p:sp>
        <p:nvSpPr>
          <p:cNvPr id="38" name="Text 30"/>
          <p:cNvSpPr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el 20 de agosto de 2025 · Lanzado en México el 28 de agosto de 2025 · Android 16 · 7 años de actualizaciones garantizadas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Móvil · Grupo 03 · Tarea 2 — Google Pixel 10 Pro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41" name="Imagen 40" descr="Google Pixel Mobile Company Brand Official Logo Icon and Symbol High  Quality Digital Download 59494413 Vector Art at Vecteezy">
            <a:extLst>
              <a:ext uri="{FF2B5EF4-FFF2-40B4-BE49-F238E27FC236}">
                <a16:creationId xmlns:a16="http://schemas.microsoft.com/office/drawing/2014/main" id="{CE314D5E-2127-89D2-C78E-08A215BD5BE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29206" b="30832"/>
          <a:stretch>
            <a:fillRect/>
          </a:stretch>
        </p:blipFill>
        <p:spPr>
          <a:xfrm>
            <a:off x="8441671" y="187452"/>
            <a:ext cx="2906033" cy="11612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¿PARA QUIÉN Y PARA QUÉ?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 y usuarios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146304" cy="146304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1704320" y="502920"/>
            <a:ext cx="146304" cy="146304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1932920" y="502920"/>
            <a:ext cx="146304" cy="146304"/>
          </a:xfrm>
          <a:prstGeom prst="ellipse">
            <a:avLst/>
          </a:prstGeom>
          <a:solidFill>
            <a:srgbClr val="FBBC0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12161520" y="502920"/>
            <a:ext cx="146304" cy="146304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4285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necesidad que resuelve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Ofrecer fotografía y asistencia de inteligencia artificial de nivel profesional sin exigir conocimientos técnicos al usuario: la cámara y Gemini hacen el trabajo pesado.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3794760"/>
            <a:ext cx="4480560" cy="0"/>
          </a:xfrm>
          <a:prstGeom prst="line">
            <a:avLst/>
          </a:prstGeom>
          <a:noFill/>
          <a:ln w="12700">
            <a:solidFill>
              <a:srgbClr val="6FA0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868680" y="397764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funciona como el "teléfono de referencia" de Android: el primero en recibir cada nueva versión del sistema.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89320" y="1691640"/>
            <a:ext cx="566928" cy="566928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4" name="Image 0" descr="/home/claude/tarea2/icon_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383" y="1827703"/>
            <a:ext cx="294803" cy="29480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720840" y="16459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que priorizan la cámara sobre la personalización de software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89320" y="2743200"/>
            <a:ext cx="566928" cy="566928"/>
          </a:xfrm>
          <a:prstGeom prst="ellipse">
            <a:avLst/>
          </a:prstGeom>
          <a:solidFill>
            <a:srgbClr val="FBBC0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7" name="Image 1" descr="/home/claude/tarea2/icon_z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5383" y="2879263"/>
            <a:ext cx="294803" cy="29480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720840" y="26974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que quieren IA integrada sin depender siempre de la nube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989320" y="3794760"/>
            <a:ext cx="566928" cy="566928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0" name="Image 2" descr="/home/claude/tarea2/icon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5383" y="3930823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20840" y="374904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Compradores que valoran Android "puro" y soporte de largo plazo (7 años)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5989320" y="4846320"/>
            <a:ext cx="566928" cy="56692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3" name="Image 3" descr="/home/claude/tarea2/icon_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5383" y="4982383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20840" y="48006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Desarrolladores y entusiastas que siguen de cerca la evolución de Android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Móvil · Grupo 03 · Tarea 2 — Google Pixel 10 Pro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LO QUE LO DIFERENCIA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y funcionalidades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146304" cy="146304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1704320" y="502920"/>
            <a:ext cx="146304" cy="146304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1932920" y="502920"/>
            <a:ext cx="146304" cy="146304"/>
          </a:xfrm>
          <a:prstGeom prst="ellipse">
            <a:avLst/>
          </a:prstGeom>
          <a:solidFill>
            <a:srgbClr val="FBBC0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12161520" y="502920"/>
            <a:ext cx="146304" cy="146304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182880" y="1600200"/>
            <a:ext cx="7409411" cy="1417320"/>
          </a:xfrm>
          <a:prstGeom prst="roundRect">
            <a:avLst>
              <a:gd name="adj" fmla="val 7742"/>
            </a:avLst>
          </a:prstGeom>
          <a:solidFill>
            <a:srgbClr val="20212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914400" cy="91440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0" name="Image 0" descr="/home/claude/tarea2/icon_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35" y="2007108"/>
            <a:ext cx="475488" cy="475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1742209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Nano corre dentro del propio Tensor G5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80160" y="214884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de IA en el dispositivo, sin depender siempre de servidores externos: respuestas más rápidas y funciones que operan incluso sin conexión.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337560"/>
            <a:ext cx="2606040" cy="2606040"/>
          </a:xfrm>
          <a:prstGeom prst="roundRect">
            <a:avLst>
              <a:gd name="adj" fmla="val 4211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1463040" y="3611880"/>
            <a:ext cx="777240" cy="77724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5" name="Image 1" descr="/home/claude/tarea2/icon_z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9578" y="3798418"/>
            <a:ext cx="404165" cy="40416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5800" y="4572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Live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731520" y="49834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conversacional en tiempo real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3383280" y="3337560"/>
            <a:ext cx="2606040" cy="2606040"/>
          </a:xfrm>
          <a:prstGeom prst="roundRect">
            <a:avLst>
              <a:gd name="adj" fmla="val 4211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Shape 15"/>
          <p:cNvSpPr/>
          <p:nvPr/>
        </p:nvSpPr>
        <p:spPr>
          <a:xfrm>
            <a:off x="4297680" y="3611880"/>
            <a:ext cx="777240" cy="77724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0" name="Image 2" descr="/home/claude/tarea2/icon_came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4218" y="3798418"/>
            <a:ext cx="404165" cy="40416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520440" y="4572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Astrofotografía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3566160" y="49834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 nocturna asistida por IA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217920" y="3337560"/>
            <a:ext cx="2606040" cy="2606040"/>
          </a:xfrm>
          <a:prstGeom prst="roundRect">
            <a:avLst>
              <a:gd name="adj" fmla="val 4211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Shape 19"/>
          <p:cNvSpPr/>
          <p:nvPr/>
        </p:nvSpPr>
        <p:spPr>
          <a:xfrm>
            <a:off x="7132320" y="3611880"/>
            <a:ext cx="777240" cy="777240"/>
          </a:xfrm>
          <a:prstGeom prst="ellipse">
            <a:avLst/>
          </a:prstGeom>
          <a:solidFill>
            <a:srgbClr val="FBBC0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5" name="Image 3" descr="/home/claude/tarea2/icon_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8858" y="3798418"/>
            <a:ext cx="404165" cy="40416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55080" y="4572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Boost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400800" y="49834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Estabilización y nitidez con IA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9052560" y="3337560"/>
            <a:ext cx="2606040" cy="2606040"/>
          </a:xfrm>
          <a:prstGeom prst="roundRect">
            <a:avLst>
              <a:gd name="adj" fmla="val 4211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Shape 23"/>
          <p:cNvSpPr/>
          <p:nvPr/>
        </p:nvSpPr>
        <p:spPr>
          <a:xfrm>
            <a:off x="9966960" y="3611880"/>
            <a:ext cx="777240" cy="77724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0" name="Image 4" descr="/home/claude/tarea2/icon_batte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3498" y="3798418"/>
            <a:ext cx="404165" cy="40416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189720" y="4572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Pixelsnap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9235440" y="49834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magnética compatible con Qi2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Móvil · Grupo 03 · Tarea 2 — Google Pixel 10 Pro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35" name="Imagen 34" descr="Pixel 10 introduces new chip, Tensor G5">
            <a:extLst>
              <a:ext uri="{FF2B5EF4-FFF2-40B4-BE49-F238E27FC236}">
                <a16:creationId xmlns:a16="http://schemas.microsoft.com/office/drawing/2014/main" id="{5C11AE13-8D50-D070-E458-0CB20125E8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3575" y="1400067"/>
            <a:ext cx="3199846" cy="17992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 NEXUS A TENSOR G5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y competencia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146304" cy="146304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1704320" y="502920"/>
            <a:ext cx="146304" cy="146304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1932920" y="502920"/>
            <a:ext cx="146304" cy="146304"/>
          </a:xfrm>
          <a:prstGeom prst="ellipse">
            <a:avLst/>
          </a:prstGeom>
          <a:solidFill>
            <a:srgbClr val="FBBC0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12161520" y="502920"/>
            <a:ext cx="146304" cy="146304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22960" y="2039112"/>
            <a:ext cx="10424160" cy="0"/>
          </a:xfrm>
          <a:prstGeom prst="line">
            <a:avLst/>
          </a:prstGeom>
          <a:noFill/>
          <a:ln w="381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658368" y="1874520"/>
            <a:ext cx="329184" cy="329184"/>
          </a:xfrm>
          <a:prstGeom prst="ellipse">
            <a:avLst/>
          </a:prstGeom>
          <a:solidFill>
            <a:srgbClr val="4285F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25603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Pixel,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sucesor de Nexus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33088" y="1874520"/>
            <a:ext cx="329184" cy="329184"/>
          </a:xfrm>
          <a:prstGeom prst="ellipse">
            <a:avLst/>
          </a:prstGeom>
          <a:solidFill>
            <a:srgbClr val="EA433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5603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6: primer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Tensor propio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07808" y="1874520"/>
            <a:ext cx="329184" cy="329184"/>
          </a:xfrm>
          <a:prstGeom prst="ellipse">
            <a:avLst/>
          </a:prstGeom>
          <a:solidFill>
            <a:srgbClr val="FBBC0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94944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49440" y="25603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Fabricación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Samsung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1082528" y="1874520"/>
            <a:ext cx="329184" cy="329184"/>
          </a:xfrm>
          <a:prstGeom prst="ellipse">
            <a:avLst/>
          </a:prstGeom>
          <a:solidFill>
            <a:srgbClr val="34A85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1042416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424160" y="25603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G5: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a TSMC (3 nm)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3887585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la competencia directa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672010"/>
              </p:ext>
            </p:extLst>
          </p:nvPr>
        </p:nvGraphicFramePr>
        <p:xfrm>
          <a:off x="411480" y="4334257"/>
          <a:ext cx="11064240" cy="20116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 10 Pro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iPhone 17 Pro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Galaxy S25 Ultra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28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 G5 (TSMC)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A19 Bionic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Snapdragon 8 Elite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Fortaleza clave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Fotografía nocturna con 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y consistencia de color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Zoom óptico de largo alcance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Aluminio + Gorilla Glass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Aluminio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Titanio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Móvil · Grupo 03 · Tarea 2 — Google Pixel 10 Pro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25" name="Imagen 24" descr="GOOGLE PIXEL 6 PRO 12GB 256GB 5G NEGRO">
            <a:extLst>
              <a:ext uri="{FF2B5EF4-FFF2-40B4-BE49-F238E27FC236}">
                <a16:creationId xmlns:a16="http://schemas.microsoft.com/office/drawing/2014/main" id="{0A492CA9-2FD1-B227-C4DE-A79F4040F0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108584" y="1925504"/>
            <a:ext cx="1760914" cy="1760914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7C098ABF-B27E-60EA-4AF2-E4429E9CFD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505" r="21109"/>
          <a:stretch>
            <a:fillRect/>
          </a:stretch>
        </p:blipFill>
        <p:spPr>
          <a:xfrm>
            <a:off x="1680976" y="1985633"/>
            <a:ext cx="1610864" cy="1587731"/>
          </a:xfrm>
          <a:prstGeom prst="rect">
            <a:avLst/>
          </a:prstGeom>
        </p:spPr>
      </p:pic>
      <p:pic>
        <p:nvPicPr>
          <p:cNvPr id="28" name="Imagen 27" descr="Google elige a TSMC para el chip Tensor G5 del Pixel 10">
            <a:extLst>
              <a:ext uri="{FF2B5EF4-FFF2-40B4-BE49-F238E27FC236}">
                <a16:creationId xmlns:a16="http://schemas.microsoft.com/office/drawing/2014/main" id="{485C8A96-D2C5-267C-B6EE-37E27FB4D0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212296"/>
            <a:ext cx="1777072" cy="10129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e impacto social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146304" cy="146304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1704320" y="502920"/>
            <a:ext cx="146304" cy="146304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1932920" y="502920"/>
            <a:ext cx="146304" cy="146304"/>
          </a:xfrm>
          <a:prstGeom prst="ellipse">
            <a:avLst/>
          </a:prstGeom>
          <a:solidFill>
            <a:srgbClr val="FBBC0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12161520" y="502920"/>
            <a:ext cx="146304" cy="146304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s-MX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2955713918"/>
              </p:ext>
            </p:extLst>
          </p:nvPr>
        </p:nvGraphicFramePr>
        <p:xfrm>
          <a:off x="344978" y="1609621"/>
          <a:ext cx="5669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6537960" y="16916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366760" y="176479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global de Pixel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Q1 2026 (Counterpoint)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537960" y="27432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8366760" y="281635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de Pixel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EE. UU. (4.º lugar)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537960" y="37947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1.ª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8366760" y="386791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México, primer país de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América Latina con el lanzamiento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5074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entra oficialmente a México en agosto de 2025, tras una década sin presencia formal, distribuido por Telcel, AT&amp;T, Coppel y Liverpool.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Móvil · Grupo 03 · Tarea 2 — Google Pixel 10 Pro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FORTALEZAS Y CONTROVERSIAS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 implicaciones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146304" cy="146304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1704320" y="502920"/>
            <a:ext cx="146304" cy="146304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1932920" y="502920"/>
            <a:ext cx="146304" cy="146304"/>
          </a:xfrm>
          <a:prstGeom prst="ellipse">
            <a:avLst/>
          </a:prstGeom>
          <a:solidFill>
            <a:srgbClr val="FBBC0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12161520" y="502920"/>
            <a:ext cx="146304" cy="146304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E6F4E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0" name="Image 0" descr="/home/claude/tarea2/icon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91640" y="1965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 de seguridad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260604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Coprocesador Titan M2 certificado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ejecución de confianza (Trusty)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de Google sin costo adicional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antimalware y antiphishing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años de parches de seguridad garantizados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CE8E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6537960" y="1874520"/>
            <a:ext cx="640080" cy="64008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5" name="Image 1" descr="/home/claude/tarea2/icon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579" y="2028139"/>
            <a:ext cx="332842" cy="33284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60920" y="1965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Controversia con Gemini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537960" y="26060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julio de 2025, Gemini conserva acceso a Teléfono, Mensajes y WhatsApp incluso con el registro de actividad desactivado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en EE. UU. por presunta violación a la Ley de Privacidad del Consumidor de California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retienen hasta 72 horas por razones de seguridad y operación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Móvil · Grupo 03 · Tarea 2 — Google Pixel 10 Pro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DIAGNÓSTICO DEL DISPOSITIVO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FODA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146304" cy="146304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1704320" y="502920"/>
            <a:ext cx="146304" cy="146304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1932920" y="502920"/>
            <a:ext cx="146304" cy="146304"/>
          </a:xfrm>
          <a:prstGeom prst="ellipse">
            <a:avLst/>
          </a:prstGeom>
          <a:solidFill>
            <a:srgbClr val="FBBC0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12161520" y="502920"/>
            <a:ext cx="146304" cy="146304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4285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3774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 computacional líder, Tensor G5 con IA on-device y 7 años de actualizaciones garantizadas.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34A85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3774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del 14% interanual y entrada a México como primer país de América Latina.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FBBC0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868680" y="4251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48006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de mercado marginal (~3% en EE. UU.) y GPU rezagada frente a la competencia.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402336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EA433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492240" y="4251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48006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Alza en el costo de memoria a nivel industria y competencia agresiva de Apple y Samsung.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Móvil · Grupo 03 · Tarea 2 — Google Pixel 10 Pro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PROPUESTA DE MEJORA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nosotros diseñáramos el siguiente Pixel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146304" cy="146304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1704320" y="502920"/>
            <a:ext cx="146304" cy="146304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1932920" y="502920"/>
            <a:ext cx="146304" cy="146304"/>
          </a:xfrm>
          <a:prstGeom prst="ellipse">
            <a:avLst/>
          </a:prstGeom>
          <a:solidFill>
            <a:srgbClr val="FBBC0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12161520" y="502920"/>
            <a:ext cx="146304" cy="146304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0" name="Image 0" descr="/home/claude/tarea2/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" y="2311603"/>
            <a:ext cx="451714" cy="45171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3154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Reforzar la GPU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4400" y="370332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salto a TSMC mejoró CPU y TPU, pero no el rendimiento gráfico. Se requeriría una GPU propia o mayor colaboración con Imagination Technologies.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17920" y="17373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6583680" y="2103120"/>
            <a:ext cx="868680" cy="86868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5" name="Image 1" descr="/home/claude/tarea2/icon_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163" y="2311603"/>
            <a:ext cx="451714" cy="45171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583680" y="3154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de Gemini por diseño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583680" y="370332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el procesamiento on-device (como ya hace Gemini Nano) y ofrecer controles de exclusión más visibles y granulares.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Móvil · Grupo 03 · Tarea 2 — Google Pixel 10 Pro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48640"/>
            <a:ext cx="201168" cy="20116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914400" y="548640"/>
            <a:ext cx="201168" cy="201168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1234440" y="548640"/>
            <a:ext cx="201168" cy="201168"/>
          </a:xfrm>
          <a:prstGeom prst="ellipse">
            <a:avLst/>
          </a:prstGeom>
          <a:solidFill>
            <a:srgbClr val="FBBC0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554480" y="548640"/>
            <a:ext cx="201168" cy="201168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MX" sz="3200" dirty="0">
                <a:solidFill>
                  <a:schemeClr val="bg1"/>
                </a:solidFill>
              </a:rPr>
              <a:t>El futuro de la inteligencia artificial en el dispositivo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9" name="Image 0" descr="/home/claude/tarea2/icon_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289681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269748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Pixel 10 Pro demuestra que la integración hardware-software puede pesar tanto como las especificaciones en bruto.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3794760"/>
            <a:ext cx="640080" cy="64008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2" name="Image 1" descr="/home/claude/tarea2/icon_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394837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374904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de Samsung a TSMC en el Tensor G5 confirma que las decisiones de manufactura definen el rumbo de un producto.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640080" cy="64008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5" name="Image 2" descr="/home/claude/tarea2/icon_bookop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59" y="499993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480060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discusión sobre privacidad de Gemini muestra que la IA en el dispositivo trae consigo retos éticos y legales aún sin resolver.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Móvil · Grupo 03 · Tarea 2 — Google Pixel 10 Pro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936</Words>
  <Application>Microsoft Office PowerPoint</Application>
  <PresentationFormat>Panorámica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CARLOS MARIO HERNANDEZ GUTIERREZ</cp:lastModifiedBy>
  <cp:revision>3</cp:revision>
  <dcterms:created xsi:type="dcterms:W3CDTF">2026-09-16T08:57:30Z</dcterms:created>
  <dcterms:modified xsi:type="dcterms:W3CDTF">2026-09-17T04:30:07Z</dcterms:modified>
</cp:coreProperties>
</file>